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395" r:id="rId1"/>
  </p:sldMasterIdLst>
  <p:sldIdLst>
    <p:sldId id="263" r:id="rId2"/>
    <p:sldId id="257" r:id="rId3"/>
    <p:sldId id="258" r:id="rId4"/>
    <p:sldId id="261" r:id="rId5"/>
    <p:sldId id="259" r:id="rId6"/>
    <p:sldId id="260" r:id="rId7"/>
    <p:sldId id="262" r:id="rId8"/>
    <p:sldId id="264" r:id="rId9"/>
  </p:sldIdLst>
  <p:sldSz cx="10058400" cy="7772400"/>
  <p:notesSz cx="10058400" cy="7772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697E54-DB4A-465E-86AD-5B3A97448702}" v="54" dt="2026-04-27T14:21:52.43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396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9312" y="-9597"/>
            <a:ext cx="10086784" cy="7791593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655" y="2725139"/>
            <a:ext cx="6409391" cy="1865809"/>
          </a:xfrm>
        </p:spPr>
        <p:txBody>
          <a:bodyPr anchor="b">
            <a:noAutofit/>
          </a:bodyPr>
          <a:lstStyle>
            <a:lvl1pPr algn="r">
              <a:defRPr sz="594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3655" y="4590946"/>
            <a:ext cx="6409391" cy="1243152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5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08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1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4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17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0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23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51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18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8" y="3060984"/>
            <a:ext cx="6982487" cy="2070125"/>
          </a:xfrm>
        </p:spPr>
        <p:txBody>
          <a:bodyPr anchor="b"/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8" y="5131108"/>
            <a:ext cx="6982487" cy="975120"/>
          </a:xfrm>
        </p:spPr>
        <p:txBody>
          <a:bodyPr anchor="t"/>
          <a:lstStyle>
            <a:lvl1pPr marL="0" indent="0" algn="l">
              <a:buNone/>
              <a:defRPr sz="2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48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690880"/>
            <a:ext cx="6982485" cy="14969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1" y="2448668"/>
            <a:ext cx="3396920" cy="4398208"/>
          </a:xfrm>
        </p:spPr>
        <p:txBody>
          <a:bodyPr>
            <a:normAutofit/>
          </a:bodyPr>
          <a:lstStyle>
            <a:lvl1pPr>
              <a:defRPr sz="1980"/>
            </a:lvl1pPr>
            <a:lvl2pPr>
              <a:defRPr sz="1760"/>
            </a:lvl2pPr>
            <a:lvl3pPr>
              <a:defRPr sz="1540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56124" y="2448669"/>
            <a:ext cx="3396921" cy="4398209"/>
          </a:xfrm>
        </p:spPr>
        <p:txBody>
          <a:bodyPr>
            <a:normAutofit/>
          </a:bodyPr>
          <a:lstStyle>
            <a:lvl1pPr>
              <a:defRPr sz="1980"/>
            </a:lvl1pPr>
            <a:lvl2pPr>
              <a:defRPr sz="1760"/>
            </a:lvl2pPr>
            <a:lvl3pPr>
              <a:defRPr sz="1540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84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690880"/>
            <a:ext cx="6982484" cy="14969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9" y="2449114"/>
            <a:ext cx="3399739" cy="653097"/>
          </a:xfrm>
        </p:spPr>
        <p:txBody>
          <a:bodyPr anchor="b">
            <a:noAutofit/>
          </a:bodyPr>
          <a:lstStyle>
            <a:lvl1pPr marL="0" indent="0">
              <a:buNone/>
              <a:defRPr sz="2640" b="0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59" y="3102213"/>
            <a:ext cx="3399739" cy="37446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53304" y="2449114"/>
            <a:ext cx="3399739" cy="653097"/>
          </a:xfrm>
        </p:spPr>
        <p:txBody>
          <a:bodyPr anchor="b">
            <a:noAutofit/>
          </a:bodyPr>
          <a:lstStyle>
            <a:lvl1pPr marL="0" indent="0">
              <a:buNone/>
              <a:defRPr sz="2640" b="0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53304" y="3102213"/>
            <a:ext cx="3399739" cy="37446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54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9" y="690880"/>
            <a:ext cx="6982485" cy="14969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5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64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9" y="1698418"/>
            <a:ext cx="3069200" cy="1448928"/>
          </a:xfrm>
        </p:spPr>
        <p:txBody>
          <a:bodyPr anchor="b"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8403" y="583582"/>
            <a:ext cx="3724641" cy="626329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59" y="3147346"/>
            <a:ext cx="3069200" cy="2929042"/>
          </a:xfrm>
        </p:spPr>
        <p:txBody>
          <a:bodyPr>
            <a:normAutofit/>
          </a:bodyPr>
          <a:lstStyle>
            <a:lvl1pPr marL="0" indent="0">
              <a:buNone/>
              <a:defRPr sz="154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43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9" y="5440680"/>
            <a:ext cx="6982485" cy="642303"/>
          </a:xfrm>
        </p:spPr>
        <p:txBody>
          <a:bodyPr anchor="b">
            <a:normAutofit/>
          </a:bodyPr>
          <a:lstStyle>
            <a:lvl1pPr algn="l">
              <a:defRPr sz="264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0559" y="690880"/>
            <a:ext cx="6982485" cy="435848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0"/>
            </a:lvl1pPr>
            <a:lvl2pPr marL="502920" indent="0">
              <a:buNone/>
              <a:defRPr sz="1760"/>
            </a:lvl2pPr>
            <a:lvl3pPr marL="1005840" indent="0">
              <a:buNone/>
              <a:defRPr sz="1760"/>
            </a:lvl3pPr>
            <a:lvl4pPr marL="1508760" indent="0">
              <a:buNone/>
              <a:defRPr sz="1760"/>
            </a:lvl4pPr>
            <a:lvl5pPr marL="2011680" indent="0">
              <a:buNone/>
              <a:defRPr sz="1760"/>
            </a:lvl5pPr>
            <a:lvl6pPr marL="2514600" indent="0">
              <a:buNone/>
              <a:defRPr sz="1760"/>
            </a:lvl6pPr>
            <a:lvl7pPr marL="3017520" indent="0">
              <a:buNone/>
              <a:defRPr sz="1760"/>
            </a:lvl7pPr>
            <a:lvl8pPr marL="3520440" indent="0">
              <a:buNone/>
              <a:defRPr sz="1760"/>
            </a:lvl8pPr>
            <a:lvl9pPr marL="4023360" indent="0">
              <a:buNone/>
              <a:defRPr sz="17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59" y="6082983"/>
            <a:ext cx="6982485" cy="763894"/>
          </a:xfrm>
        </p:spPr>
        <p:txBody>
          <a:bodyPr>
            <a:normAutofit/>
          </a:bodyPr>
          <a:lstStyle>
            <a:lvl1pPr marL="0" indent="0">
              <a:buNone/>
              <a:defRPr sz="1320"/>
            </a:lvl1pPr>
            <a:lvl2pPr marL="502920" indent="0">
              <a:buNone/>
              <a:defRPr sz="1320"/>
            </a:lvl2pPr>
            <a:lvl3pPr marL="1005840" indent="0">
              <a:buNone/>
              <a:defRPr sz="1100"/>
            </a:lvl3pPr>
            <a:lvl4pPr marL="1508760" indent="0">
              <a:buNone/>
              <a:defRPr sz="990"/>
            </a:lvl4pPr>
            <a:lvl5pPr marL="2011680" indent="0">
              <a:buNone/>
              <a:defRPr sz="990"/>
            </a:lvl5pPr>
            <a:lvl6pPr marL="2514600" indent="0">
              <a:buNone/>
              <a:defRPr sz="990"/>
            </a:lvl6pPr>
            <a:lvl7pPr marL="3017520" indent="0">
              <a:buNone/>
              <a:defRPr sz="990"/>
            </a:lvl7pPr>
            <a:lvl8pPr marL="3520440" indent="0">
              <a:buNone/>
              <a:defRPr sz="990"/>
            </a:lvl8pPr>
            <a:lvl9pPr marL="4023360" indent="0">
              <a:buNone/>
              <a:defRPr sz="9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5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690880"/>
            <a:ext cx="6982485" cy="3857413"/>
          </a:xfrm>
        </p:spPr>
        <p:txBody>
          <a:bodyPr anchor="ctr">
            <a:normAutofit/>
          </a:bodyPr>
          <a:lstStyle>
            <a:lvl1pPr algn="l">
              <a:defRPr sz="4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5066453"/>
            <a:ext cx="6982485" cy="1780424"/>
          </a:xfrm>
        </p:spPr>
        <p:txBody>
          <a:bodyPr anchor="ctr">
            <a:normAutofit/>
          </a:bodyPr>
          <a:lstStyle>
            <a:lvl1pPr marL="0" indent="0" algn="l">
              <a:buNone/>
              <a:defRPr sz="19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46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374" y="690880"/>
            <a:ext cx="6679400" cy="3425613"/>
          </a:xfrm>
        </p:spPr>
        <p:txBody>
          <a:bodyPr anchor="ctr">
            <a:normAutofit/>
          </a:bodyPr>
          <a:lstStyle>
            <a:lvl1pPr algn="l">
              <a:defRPr sz="4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1182" y="4116493"/>
            <a:ext cx="5961784" cy="4318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2920" indent="0">
              <a:buFontTx/>
              <a:buNone/>
              <a:defRPr/>
            </a:lvl2pPr>
            <a:lvl3pPr marL="1005840" indent="0">
              <a:buFontTx/>
              <a:buNone/>
              <a:defRPr/>
            </a:lvl3pPr>
            <a:lvl4pPr marL="1508760" indent="0">
              <a:buFontTx/>
              <a:buNone/>
              <a:defRPr/>
            </a:lvl4pPr>
            <a:lvl5pPr marL="20116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8" y="5066453"/>
            <a:ext cx="6982487" cy="1780424"/>
          </a:xfrm>
        </p:spPr>
        <p:txBody>
          <a:bodyPr anchor="ctr">
            <a:normAutofit/>
          </a:bodyPr>
          <a:lstStyle>
            <a:lvl1pPr marL="0" indent="0" algn="l">
              <a:buNone/>
              <a:defRPr sz="19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30983" y="895762"/>
            <a:ext cx="503051" cy="662746"/>
          </a:xfrm>
          <a:prstGeom prst="rect">
            <a:avLst/>
          </a:prstGeom>
        </p:spPr>
        <p:txBody>
          <a:bodyPr vert="horz" lIns="100584" tIns="50292" rIns="100584" bIns="50292" rtlCol="0" anchor="ctr">
            <a:noAutofit/>
          </a:bodyPr>
          <a:lstStyle/>
          <a:p>
            <a:pPr lvl="0"/>
            <a:r>
              <a:rPr lang="en-US" sz="8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2469" y="3271430"/>
            <a:ext cx="503051" cy="662746"/>
          </a:xfrm>
          <a:prstGeom prst="rect">
            <a:avLst/>
          </a:prstGeom>
        </p:spPr>
        <p:txBody>
          <a:bodyPr vert="horz" lIns="100584" tIns="50292" rIns="100584" bIns="50292" rtlCol="0" anchor="ctr">
            <a:noAutofit/>
          </a:bodyPr>
          <a:lstStyle/>
          <a:p>
            <a:pPr lvl="0"/>
            <a:r>
              <a:rPr lang="en-US" sz="8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1138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58" y="2189587"/>
            <a:ext cx="6982487" cy="2941521"/>
          </a:xfrm>
        </p:spPr>
        <p:txBody>
          <a:bodyPr anchor="b">
            <a:normAutofit/>
          </a:bodyPr>
          <a:lstStyle>
            <a:lvl1pPr algn="l">
              <a:defRPr sz="4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8" y="5131108"/>
            <a:ext cx="6982487" cy="1715769"/>
          </a:xfrm>
        </p:spPr>
        <p:txBody>
          <a:bodyPr anchor="t">
            <a:normAutofit/>
          </a:bodyPr>
          <a:lstStyle>
            <a:lvl1pPr marL="0" indent="0" algn="l">
              <a:buNone/>
              <a:defRPr sz="19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510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374" y="690880"/>
            <a:ext cx="6679400" cy="3425613"/>
          </a:xfrm>
        </p:spPr>
        <p:txBody>
          <a:bodyPr anchor="ctr">
            <a:normAutofit/>
          </a:bodyPr>
          <a:lstStyle>
            <a:lvl1pPr algn="l">
              <a:defRPr sz="4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0557" y="4548294"/>
            <a:ext cx="6982488" cy="58281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2920" indent="0">
              <a:buFontTx/>
              <a:buNone/>
              <a:defRPr/>
            </a:lvl2pPr>
            <a:lvl3pPr marL="1005840" indent="0">
              <a:buFontTx/>
              <a:buNone/>
              <a:defRPr/>
            </a:lvl3pPr>
            <a:lvl4pPr marL="1508760" indent="0">
              <a:buFontTx/>
              <a:buNone/>
              <a:defRPr/>
            </a:lvl4pPr>
            <a:lvl5pPr marL="20116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8" y="5131108"/>
            <a:ext cx="6982487" cy="1715769"/>
          </a:xfrm>
        </p:spPr>
        <p:txBody>
          <a:bodyPr anchor="t">
            <a:normAutofit/>
          </a:bodyPr>
          <a:lstStyle>
            <a:lvl1pPr marL="0" indent="0" algn="l">
              <a:buNone/>
              <a:defRPr sz="198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30983" y="895762"/>
            <a:ext cx="503051" cy="662746"/>
          </a:xfrm>
          <a:prstGeom prst="rect">
            <a:avLst/>
          </a:prstGeom>
        </p:spPr>
        <p:txBody>
          <a:bodyPr vert="horz" lIns="100584" tIns="50292" rIns="100584" bIns="50292" rtlCol="0" anchor="ctr">
            <a:noAutofit/>
          </a:bodyPr>
          <a:lstStyle/>
          <a:p>
            <a:pPr lvl="0"/>
            <a:r>
              <a:rPr lang="en-US" sz="8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2469" y="3271430"/>
            <a:ext cx="503051" cy="662746"/>
          </a:xfrm>
          <a:prstGeom prst="rect">
            <a:avLst/>
          </a:prstGeom>
        </p:spPr>
        <p:txBody>
          <a:bodyPr vert="horz" lIns="100584" tIns="50292" rIns="100584" bIns="50292" rtlCol="0" anchor="ctr">
            <a:noAutofit/>
          </a:bodyPr>
          <a:lstStyle/>
          <a:p>
            <a:pPr lvl="0"/>
            <a:r>
              <a:rPr lang="en-US" sz="8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7984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433" y="690880"/>
            <a:ext cx="6975612" cy="3425613"/>
          </a:xfrm>
        </p:spPr>
        <p:txBody>
          <a:bodyPr anchor="ctr">
            <a:normAutofit/>
          </a:bodyPr>
          <a:lstStyle>
            <a:lvl1pPr algn="l">
              <a:defRPr sz="4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0557" y="4548294"/>
            <a:ext cx="6982488" cy="58281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0">
                <a:solidFill>
                  <a:schemeClr val="accent1"/>
                </a:solidFill>
              </a:defRPr>
            </a:lvl1pPr>
            <a:lvl2pPr marL="502920" indent="0">
              <a:buFontTx/>
              <a:buNone/>
              <a:defRPr/>
            </a:lvl2pPr>
            <a:lvl3pPr marL="1005840" indent="0">
              <a:buFontTx/>
              <a:buNone/>
              <a:defRPr/>
            </a:lvl3pPr>
            <a:lvl4pPr marL="1508760" indent="0">
              <a:buFontTx/>
              <a:buNone/>
              <a:defRPr/>
            </a:lvl4pPr>
            <a:lvl5pPr marL="20116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8" y="5131108"/>
            <a:ext cx="6982487" cy="1715769"/>
          </a:xfrm>
        </p:spPr>
        <p:txBody>
          <a:bodyPr anchor="t">
            <a:normAutofit/>
          </a:bodyPr>
          <a:lstStyle>
            <a:lvl1pPr marL="0" indent="0" algn="l">
              <a:buNone/>
              <a:defRPr sz="198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292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960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106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5043" y="690881"/>
            <a:ext cx="1076693" cy="59516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59" y="690881"/>
            <a:ext cx="5714529" cy="5951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84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9313" y="-9597"/>
            <a:ext cx="10086786" cy="7791593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690880"/>
            <a:ext cx="6982484" cy="14969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59" y="2448669"/>
            <a:ext cx="6982485" cy="4398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5784" y="6846879"/>
            <a:ext cx="752545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0560" y="6846879"/>
            <a:ext cx="508527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9144" y="6846879"/>
            <a:ext cx="563902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2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6" r:id="rId1"/>
    <p:sldLayoutId id="2147484397" r:id="rId2"/>
    <p:sldLayoutId id="2147484398" r:id="rId3"/>
    <p:sldLayoutId id="2147484399" r:id="rId4"/>
    <p:sldLayoutId id="2147484400" r:id="rId5"/>
    <p:sldLayoutId id="2147484401" r:id="rId6"/>
    <p:sldLayoutId id="2147484402" r:id="rId7"/>
    <p:sldLayoutId id="2147484403" r:id="rId8"/>
    <p:sldLayoutId id="2147484404" r:id="rId9"/>
    <p:sldLayoutId id="2147484405" r:id="rId10"/>
    <p:sldLayoutId id="2147484406" r:id="rId11"/>
    <p:sldLayoutId id="2147484407" r:id="rId12"/>
    <p:sldLayoutId id="2147484408" r:id="rId13"/>
    <p:sldLayoutId id="2147484409" r:id="rId14"/>
    <p:sldLayoutId id="2147484410" r:id="rId15"/>
    <p:sldLayoutId id="2147484411" r:id="rId16"/>
  </p:sldLayoutIdLst>
  <p:txStyles>
    <p:titleStyle>
      <a:lvl1pPr algn="l" defTabSz="502920" rtl="0" eaLnBrk="1" latinLnBrk="0" hangingPunct="1">
        <a:spcBef>
          <a:spcPct val="0"/>
        </a:spcBef>
        <a:buNone/>
        <a:defRPr sz="396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190" indent="-37719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17245" indent="-314325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5730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76022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26314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76606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6898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190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74820" indent="-251460" algn="l" defTabSz="50292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50292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31352-BA58-8498-18A2-B4919744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  Smart food </a:t>
            </a:r>
            <a:r>
              <a:rPr lang="en-US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disturbution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 system</a:t>
            </a:r>
            <a:b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r>
              <a:rPr lang="en-US" sz="4000" dirty="0"/>
              <a:t>               </a:t>
            </a:r>
            <a:r>
              <a:rPr lang="en-US" sz="2700" dirty="0"/>
              <a:t>TEAM</a:t>
            </a:r>
            <a:r>
              <a:rPr lang="en-US" sz="2700" spc="-160" dirty="0"/>
              <a:t> </a:t>
            </a:r>
            <a:r>
              <a:rPr lang="en-US" sz="2700" spc="-10" dirty="0"/>
              <a:t>DETAILS</a:t>
            </a: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46F32-7FFB-A753-CBAE-5B71F8124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1201"/>
            <a:ext cx="6814844" cy="4865678"/>
          </a:xfrm>
        </p:spPr>
        <p:txBody>
          <a:bodyPr>
            <a:normAutofit/>
          </a:bodyPr>
          <a:lstStyle/>
          <a:p>
            <a:pPr marL="471170" indent="-285750">
              <a:lnSpc>
                <a:spcPct val="100000"/>
              </a:lnSpc>
              <a:spcBef>
                <a:spcPts val="1405"/>
              </a:spcBef>
              <a:buFont typeface="Wingdings"/>
              <a:buChar char=""/>
              <a:tabLst>
                <a:tab pos="47117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Team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Name</a:t>
            </a:r>
            <a:r>
              <a:rPr lang="en-US" sz="2000" dirty="0" err="1">
                <a:latin typeface="Arial MT"/>
                <a:cs typeface="Arial MT"/>
              </a:rPr>
              <a:t>:</a:t>
            </a:r>
            <a:r>
              <a:rPr lang="en-US" sz="2000" dirty="0" err="1">
                <a:latin typeface="Times New Roman"/>
                <a:cs typeface="Times New Roman"/>
              </a:rPr>
              <a:t>Smart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latin typeface="Times New Roman"/>
                <a:cs typeface="Times New Roman"/>
              </a:rPr>
              <a:t>serve</a:t>
            </a:r>
            <a:endParaRPr lang="en-US" sz="2000" dirty="0">
              <a:latin typeface="Times New Roman"/>
              <a:cs typeface="Times New Roman"/>
            </a:endParaRPr>
          </a:p>
          <a:p>
            <a:pPr marL="476250" indent="-286385">
              <a:lnSpc>
                <a:spcPct val="100000"/>
              </a:lnSpc>
              <a:spcBef>
                <a:spcPts val="1310"/>
              </a:spcBef>
              <a:buFont typeface="Wingdings"/>
              <a:buChar char=""/>
              <a:tabLst>
                <a:tab pos="47625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Team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members</a:t>
            </a:r>
            <a:r>
              <a:rPr lang="en-US" sz="1800" spc="-10" dirty="0">
                <a:latin typeface="Arial MT"/>
                <a:cs typeface="Arial MT"/>
              </a:rPr>
              <a:t>:</a:t>
            </a:r>
            <a:endParaRPr lang="en-US" sz="1800" dirty="0">
              <a:latin typeface="Arial MT"/>
              <a:cs typeface="Arial MT"/>
            </a:endParaRPr>
          </a:p>
          <a:p>
            <a:pPr marL="816610" lvl="1" indent="-342900">
              <a:lnSpc>
                <a:spcPct val="100000"/>
              </a:lnSpc>
              <a:spcBef>
                <a:spcPts val="2110"/>
              </a:spcBef>
              <a:buFont typeface="Arial MT"/>
              <a:buChar char="•"/>
              <a:tabLst>
                <a:tab pos="816610" algn="l"/>
              </a:tabLst>
            </a:pPr>
            <a:r>
              <a:rPr lang="en-US" sz="2000" dirty="0" err="1">
                <a:latin typeface="Times New Roman"/>
                <a:cs typeface="Times New Roman"/>
              </a:rPr>
              <a:t>V.Kavya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Sri</a:t>
            </a:r>
            <a:r>
              <a:rPr lang="en-US" sz="2000" spc="-20" dirty="0">
                <a:latin typeface="Times New Roman"/>
                <a:cs typeface="Times New Roman"/>
              </a:rPr>
              <a:t>  </a:t>
            </a:r>
            <a:r>
              <a:rPr lang="en-US" sz="2000" dirty="0">
                <a:latin typeface="Times New Roman"/>
                <a:cs typeface="Times New Roman"/>
              </a:rPr>
              <a:t>-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24A31A1228(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2</a:t>
            </a:r>
            <a:r>
              <a:rPr lang="en-US" sz="1950" baseline="25641" dirty="0">
                <a:latin typeface="Times New Roman"/>
                <a:cs typeface="Times New Roman"/>
              </a:rPr>
              <a:t>nd</a:t>
            </a:r>
            <a:r>
              <a:rPr lang="en-US" sz="1950" spc="240" baseline="25641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Year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IT)</a:t>
            </a:r>
            <a:endParaRPr lang="en-US" sz="2000" dirty="0">
              <a:latin typeface="Times New Roman"/>
              <a:cs typeface="Times New Roman"/>
            </a:endParaRPr>
          </a:p>
          <a:p>
            <a:pPr marL="760095" lvl="1" indent="-286385">
              <a:lnSpc>
                <a:spcPct val="100000"/>
              </a:lnSpc>
              <a:buFont typeface="Arial MT"/>
              <a:buChar char="•"/>
              <a:tabLst>
                <a:tab pos="760095" algn="l"/>
                <a:tab pos="1999614" algn="l"/>
              </a:tabLst>
            </a:pPr>
            <a:r>
              <a:rPr lang="en-US" sz="2000" spc="-10" dirty="0" err="1">
                <a:latin typeface="Times New Roman"/>
                <a:cs typeface="Times New Roman"/>
              </a:rPr>
              <a:t>T.Sirisha</a:t>
            </a:r>
            <a:r>
              <a:rPr lang="en-US" sz="2000" dirty="0">
                <a:latin typeface="Times New Roman"/>
                <a:cs typeface="Times New Roman"/>
              </a:rPr>
              <a:t>	  -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24A31A1227(</a:t>
            </a:r>
            <a:r>
              <a:rPr lang="en-US" sz="2000" spc="-4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2</a:t>
            </a:r>
            <a:r>
              <a:rPr lang="en-US" sz="1950" baseline="25641" dirty="0">
                <a:latin typeface="Times New Roman"/>
                <a:cs typeface="Times New Roman"/>
              </a:rPr>
              <a:t>nd</a:t>
            </a:r>
            <a:r>
              <a:rPr lang="en-US" sz="1950" spc="240" baseline="25641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Year </a:t>
            </a:r>
            <a:r>
              <a:rPr lang="en-US" sz="2000" spc="-25" dirty="0">
                <a:latin typeface="Times New Roman"/>
                <a:cs typeface="Times New Roman"/>
              </a:rPr>
              <a:t>IT)</a:t>
            </a:r>
            <a:endParaRPr lang="en-US" sz="2000" dirty="0">
              <a:latin typeface="Times New Roman"/>
              <a:cs typeface="Times New Roman"/>
            </a:endParaRPr>
          </a:p>
          <a:p>
            <a:pPr marL="760095" lvl="1" indent="-286385">
              <a:lnSpc>
                <a:spcPct val="100000"/>
              </a:lnSpc>
              <a:buFont typeface="Arial MT"/>
              <a:buChar char="•"/>
              <a:tabLst>
                <a:tab pos="760095" algn="l"/>
              </a:tabLst>
            </a:pPr>
            <a:r>
              <a:rPr lang="en-US" sz="2000" dirty="0" err="1">
                <a:latin typeface="Times New Roman"/>
                <a:cs typeface="Times New Roman"/>
              </a:rPr>
              <a:t>V.Meghana</a:t>
            </a:r>
            <a:r>
              <a:rPr lang="en-US" sz="2000" spc="-55" dirty="0">
                <a:latin typeface="Times New Roman"/>
                <a:cs typeface="Times New Roman"/>
              </a:rPr>
              <a:t>    </a:t>
            </a:r>
            <a:r>
              <a:rPr lang="en-US" sz="2000" dirty="0">
                <a:latin typeface="Times New Roman"/>
                <a:cs typeface="Times New Roman"/>
              </a:rPr>
              <a:t>-</a:t>
            </a:r>
            <a:r>
              <a:rPr lang="en-US" sz="2000" spc="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24A31A1229(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2</a:t>
            </a:r>
            <a:r>
              <a:rPr lang="en-US" sz="1950" baseline="25641" dirty="0">
                <a:latin typeface="Times New Roman"/>
                <a:cs typeface="Times New Roman"/>
              </a:rPr>
              <a:t>nd</a:t>
            </a:r>
            <a:r>
              <a:rPr lang="en-US" sz="1950" spc="225" baseline="25641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Year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IT)</a:t>
            </a:r>
            <a:endParaRPr lang="en-US" sz="2000" dirty="0">
              <a:latin typeface="Times New Roman"/>
              <a:cs typeface="Times New Roman"/>
            </a:endParaRPr>
          </a:p>
          <a:p>
            <a:pPr marL="760095" lvl="1" indent="-286385">
              <a:lnSpc>
                <a:spcPct val="100000"/>
              </a:lnSpc>
              <a:buFont typeface="Arial MT"/>
              <a:buChar char="•"/>
              <a:tabLst>
                <a:tab pos="760095" algn="l"/>
              </a:tabLst>
            </a:pPr>
            <a:r>
              <a:rPr lang="en-US" sz="2000" dirty="0" err="1">
                <a:latin typeface="Times New Roman"/>
                <a:cs typeface="Times New Roman"/>
              </a:rPr>
              <a:t>M.Gayathri</a:t>
            </a:r>
            <a:r>
              <a:rPr lang="en-US" sz="2000" spc="480" dirty="0">
                <a:latin typeface="Times New Roman"/>
                <a:cs typeface="Times New Roman"/>
              </a:rPr>
              <a:t>  </a:t>
            </a:r>
            <a:r>
              <a:rPr lang="en-US" sz="2000" dirty="0">
                <a:latin typeface="Times New Roman"/>
                <a:cs typeface="Times New Roman"/>
              </a:rPr>
              <a:t>-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24A31A1214(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2</a:t>
            </a:r>
            <a:r>
              <a:rPr lang="en-US" sz="1950" baseline="25641" dirty="0">
                <a:latin typeface="Times New Roman"/>
                <a:cs typeface="Times New Roman"/>
              </a:rPr>
              <a:t>nd</a:t>
            </a:r>
            <a:r>
              <a:rPr lang="en-US" sz="1950" spc="247" baseline="25641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Year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IT)</a:t>
            </a:r>
          </a:p>
          <a:p>
            <a:pPr marL="760095" lvl="1" indent="-286385">
              <a:lnSpc>
                <a:spcPct val="100000"/>
              </a:lnSpc>
              <a:buFont typeface="Arial MT"/>
              <a:buChar char="•"/>
              <a:tabLst>
                <a:tab pos="760095" algn="l"/>
              </a:tabLst>
            </a:pPr>
            <a:r>
              <a:rPr lang="en-US" sz="2000" spc="-25" dirty="0" err="1">
                <a:latin typeface="Times New Roman"/>
                <a:cs typeface="Times New Roman"/>
              </a:rPr>
              <a:t>M.Anitha</a:t>
            </a:r>
            <a:r>
              <a:rPr lang="en-US" sz="2000" spc="-25" dirty="0">
                <a:latin typeface="Times New Roman"/>
                <a:cs typeface="Times New Roman"/>
              </a:rPr>
              <a:t>       - 24A31A1215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2</a:t>
            </a:r>
            <a:r>
              <a:rPr lang="en-US" sz="1950" baseline="25641" dirty="0">
                <a:latin typeface="Times New Roman"/>
                <a:cs typeface="Times New Roman"/>
              </a:rPr>
              <a:t>nd</a:t>
            </a:r>
            <a:r>
              <a:rPr lang="en-US" sz="1950" spc="247" baseline="25641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Year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spc="-25" dirty="0">
                <a:latin typeface="Times New Roman"/>
                <a:cs typeface="Times New Roman"/>
              </a:rPr>
              <a:t>IT)</a:t>
            </a:r>
            <a:endParaRPr lang="en-US" sz="2000" dirty="0">
              <a:latin typeface="Times New Roman"/>
              <a:cs typeface="Times New Roman"/>
            </a:endParaRPr>
          </a:p>
          <a:p>
            <a:pPr marL="323850" indent="-285750">
              <a:lnSpc>
                <a:spcPct val="100000"/>
              </a:lnSpc>
              <a:spcBef>
                <a:spcPts val="1030"/>
              </a:spcBef>
              <a:buFont typeface="Wingdings"/>
              <a:buChar char=""/>
              <a:tabLst>
                <a:tab pos="32385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Ps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spc="-10" dirty="0" err="1">
                <a:latin typeface="Times New Roman"/>
                <a:cs typeface="Times New Roman"/>
              </a:rPr>
              <a:t>Category:software</a:t>
            </a:r>
            <a:endParaRPr lang="en-US" sz="1800" dirty="0">
              <a:latin typeface="Times New Roman"/>
              <a:cs typeface="Times New Roman"/>
            </a:endParaRPr>
          </a:p>
          <a:p>
            <a:pPr marL="2305685">
              <a:lnSpc>
                <a:spcPct val="100000"/>
              </a:lnSpc>
              <a:spcBef>
                <a:spcPts val="1285"/>
              </a:spcBef>
            </a:pPr>
            <a:r>
              <a:rPr lang="en-US" sz="2400" b="1" spc="-10" dirty="0">
                <a:latin typeface="+mj-lt"/>
                <a:cs typeface="Times New Roman"/>
              </a:rPr>
              <a:t>THEME</a:t>
            </a:r>
            <a:endParaRPr lang="en-US" sz="2400" dirty="0">
              <a:latin typeface="+mj-lt"/>
              <a:cs typeface="Times New Roman"/>
            </a:endParaRPr>
          </a:p>
          <a:p>
            <a:pPr marL="545465">
              <a:lnSpc>
                <a:spcPct val="100000"/>
              </a:lnSpc>
              <a:spcBef>
                <a:spcPts val="940"/>
              </a:spcBef>
            </a:pPr>
            <a:r>
              <a:rPr lang="en-US" sz="2800" dirty="0">
                <a:latin typeface="Times New Roman"/>
                <a:cs typeface="Times New Roman"/>
              </a:rPr>
              <a:t>Environment</a:t>
            </a:r>
            <a:r>
              <a:rPr lang="en-US" sz="2800" spc="-5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&amp;</a:t>
            </a:r>
            <a:r>
              <a:rPr lang="en-US" sz="2800" spc="-50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Sustainability  </a:t>
            </a:r>
            <a:endParaRPr lang="en-US" sz="2800" dirty="0">
              <a:latin typeface="Times New Roman"/>
              <a:cs typeface="Times New Roman"/>
            </a:endParaRPr>
          </a:p>
          <a:p>
            <a:endParaRPr lang="en-IN" dirty="0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B55C4D32-3B36-29AF-5189-F326853D3F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5853111"/>
            <a:ext cx="1030224" cy="10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13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0875"/>
            <a:ext cx="5486400" cy="1542475"/>
          </a:xfrm>
          <a:prstGeom prst="rect">
            <a:avLst/>
          </a:prstGeom>
        </p:spPr>
        <p:txBody>
          <a:bodyPr vert="horz" wrap="square" lIns="0" tIns="994157" rIns="0" bIns="0" rtlCol="0">
            <a:spAutoFit/>
          </a:bodyPr>
          <a:lstStyle/>
          <a:p>
            <a:pPr marL="966469">
              <a:lnSpc>
                <a:spcPct val="100000"/>
              </a:lnSpc>
              <a:spcBef>
                <a:spcPts val="100"/>
              </a:spcBef>
            </a:pPr>
            <a:r>
              <a:rPr sz="3500" spc="-10" dirty="0"/>
              <a:t>Problem</a:t>
            </a:r>
            <a:r>
              <a:rPr sz="3500" spc="-200" dirty="0"/>
              <a:t> </a:t>
            </a:r>
            <a:r>
              <a:rPr sz="3500" spc="-10" dirty="0"/>
              <a:t>Statement</a:t>
            </a:r>
            <a:endParaRPr sz="3500" dirty="0"/>
          </a:p>
        </p:txBody>
      </p:sp>
      <p:sp>
        <p:nvSpPr>
          <p:cNvPr id="5" name="object 5"/>
          <p:cNvSpPr txBox="1"/>
          <p:nvPr/>
        </p:nvSpPr>
        <p:spPr>
          <a:xfrm>
            <a:off x="1219200" y="1676400"/>
            <a:ext cx="8077199" cy="1872307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day, a lot of food is wasted from restaurants, events, and homes, while many people go hungry. The main problem is the lack of a proper system to connect people who have extra food with those who need it.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food distribution is not well organized, and there is no real-time platform to manage donations. Because of this, food gets spoiled, and needy people do not receive it on time</a:t>
            </a:r>
            <a:r>
              <a:rPr lang="en-US" sz="2000" dirty="0"/>
              <a:t>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3932685"/>
            <a:ext cx="6248400" cy="35349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932577"/>
            <a:ext cx="8152614" cy="461473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661035">
              <a:lnSpc>
                <a:spcPts val="3800"/>
              </a:lnSpc>
              <a:spcBef>
                <a:spcPts val="250"/>
              </a:spcBef>
            </a:pPr>
            <a:r>
              <a:rPr sz="2400" spc="-20" dirty="0"/>
              <a:t>Proposed</a:t>
            </a:r>
            <a:r>
              <a:rPr sz="2400" spc="-140" dirty="0"/>
              <a:t> </a:t>
            </a:r>
            <a:r>
              <a:rPr sz="2400" spc="-20" dirty="0"/>
              <a:t>Solution</a:t>
            </a:r>
            <a:r>
              <a:rPr sz="2400" spc="-175" dirty="0"/>
              <a:t> </a:t>
            </a:r>
            <a:r>
              <a:rPr sz="2400" spc="-20" dirty="0"/>
              <a:t>with </a:t>
            </a:r>
            <a:r>
              <a:rPr sz="2400" spc="-40" dirty="0"/>
              <a:t>Architecture</a:t>
            </a:r>
            <a:r>
              <a:rPr sz="2400" spc="-120" dirty="0"/>
              <a:t> </a:t>
            </a:r>
            <a:r>
              <a:rPr sz="2400" dirty="0"/>
              <a:t>and</a:t>
            </a:r>
            <a:r>
              <a:rPr sz="2400" spc="-160" dirty="0"/>
              <a:t> </a:t>
            </a:r>
            <a:r>
              <a:rPr sz="2400" dirty="0"/>
              <a:t>Key</a:t>
            </a:r>
            <a:r>
              <a:rPr sz="2400" spc="-105" dirty="0"/>
              <a:t> </a:t>
            </a:r>
            <a:r>
              <a:rPr sz="2400" spc="-10" dirty="0"/>
              <a:t>Features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0275" y="1817682"/>
            <a:ext cx="4540250" cy="3900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70"/>
              </a:lnSpc>
              <a:spcBef>
                <a:spcPts val="100"/>
              </a:spcBef>
            </a:pPr>
            <a:r>
              <a:rPr sz="2650" b="1" spc="-35" dirty="0">
                <a:latin typeface="Times New Roman"/>
                <a:cs typeface="Times New Roman"/>
              </a:rPr>
              <a:t>Proposed</a:t>
            </a:r>
            <a:r>
              <a:rPr sz="2650" b="1" spc="-110" dirty="0">
                <a:latin typeface="Times New Roman"/>
                <a:cs typeface="Times New Roman"/>
              </a:rPr>
              <a:t> </a:t>
            </a:r>
            <a:r>
              <a:rPr sz="2650" b="1" spc="-10" dirty="0">
                <a:latin typeface="Times New Roman"/>
                <a:cs typeface="Times New Roman"/>
              </a:rPr>
              <a:t>solution</a:t>
            </a:r>
            <a:r>
              <a:rPr sz="1950" spc="-10" dirty="0">
                <a:latin typeface="Times New Roman"/>
                <a:cs typeface="Times New Roman"/>
              </a:rPr>
              <a:t>:</a:t>
            </a:r>
            <a:endParaRPr sz="1950">
              <a:latin typeface="Times New Roman"/>
              <a:cs typeface="Times New Roman"/>
            </a:endParaRPr>
          </a:p>
          <a:p>
            <a:pPr marL="12700" marR="502284">
              <a:lnSpc>
                <a:spcPts val="2300"/>
              </a:lnSpc>
              <a:spcBef>
                <a:spcPts val="100"/>
              </a:spcBef>
            </a:pPr>
            <a:r>
              <a:rPr sz="1950" dirty="0">
                <a:latin typeface="Times New Roman"/>
                <a:cs typeface="Times New Roman"/>
              </a:rPr>
              <a:t>We</a:t>
            </a:r>
            <a:r>
              <a:rPr sz="1950" spc="-5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propose</a:t>
            </a:r>
            <a:r>
              <a:rPr sz="1950" spc="-10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 </a:t>
            </a:r>
            <a:r>
              <a:rPr sz="1950" b="1" dirty="0">
                <a:latin typeface="Times New Roman"/>
                <a:cs typeface="Times New Roman"/>
              </a:rPr>
              <a:t>Smart</a:t>
            </a:r>
            <a:r>
              <a:rPr sz="1950" b="1" spc="-65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Food</a:t>
            </a:r>
            <a:r>
              <a:rPr sz="1950" b="1" spc="-70" dirty="0">
                <a:latin typeface="Times New Roman"/>
                <a:cs typeface="Times New Roman"/>
              </a:rPr>
              <a:t> </a:t>
            </a:r>
            <a:r>
              <a:rPr sz="1950" b="1" spc="-10" dirty="0">
                <a:latin typeface="Times New Roman"/>
                <a:cs typeface="Times New Roman"/>
              </a:rPr>
              <a:t>Distribution System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ts val="2190"/>
              </a:lnSpc>
            </a:pPr>
            <a:r>
              <a:rPr sz="1950" dirty="0">
                <a:latin typeface="Times New Roman"/>
                <a:cs typeface="Times New Roman"/>
              </a:rPr>
              <a:t>that</a:t>
            </a:r>
            <a:r>
              <a:rPr sz="1950" spc="-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uses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technology</a:t>
            </a:r>
            <a:r>
              <a:rPr sz="1950" spc="-1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to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connect</a:t>
            </a:r>
            <a:r>
              <a:rPr sz="1950" b="1" spc="-3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food</a:t>
            </a:r>
            <a:r>
              <a:rPr sz="1950" b="1" spc="-55" dirty="0">
                <a:latin typeface="Times New Roman"/>
                <a:cs typeface="Times New Roman"/>
              </a:rPr>
              <a:t> </a:t>
            </a:r>
            <a:r>
              <a:rPr sz="1950" b="1" spc="-10" dirty="0">
                <a:latin typeface="Times New Roman"/>
                <a:cs typeface="Times New Roman"/>
              </a:rPr>
              <a:t>donors,</a:t>
            </a:r>
            <a:endParaRPr sz="1950">
              <a:latin typeface="Times New Roman"/>
              <a:cs typeface="Times New Roman"/>
            </a:endParaRPr>
          </a:p>
          <a:p>
            <a:pPr marL="12700" marR="110489">
              <a:lnSpc>
                <a:spcPct val="103099"/>
              </a:lnSpc>
            </a:pPr>
            <a:r>
              <a:rPr sz="1950" b="1" dirty="0">
                <a:latin typeface="Times New Roman"/>
                <a:cs typeface="Times New Roman"/>
              </a:rPr>
              <a:t>NGOs,</a:t>
            </a:r>
            <a:r>
              <a:rPr sz="1950" b="1" spc="-75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volunteers,</a:t>
            </a:r>
            <a:r>
              <a:rPr sz="1950" b="1" spc="-75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and</a:t>
            </a:r>
            <a:r>
              <a:rPr sz="1950" b="1" spc="-3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homeless</a:t>
            </a:r>
            <a:r>
              <a:rPr sz="1950" b="1" spc="-6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people</a:t>
            </a:r>
            <a:r>
              <a:rPr sz="1950" b="1" spc="-80" dirty="0">
                <a:latin typeface="Times New Roman"/>
                <a:cs typeface="Times New Roman"/>
              </a:rPr>
              <a:t> </a:t>
            </a:r>
            <a:r>
              <a:rPr sz="1950" spc="-25" dirty="0">
                <a:latin typeface="Times New Roman"/>
                <a:cs typeface="Times New Roman"/>
              </a:rPr>
              <a:t>in </a:t>
            </a:r>
            <a:r>
              <a:rPr sz="1950" dirty="0">
                <a:latin typeface="Times New Roman"/>
                <a:cs typeface="Times New Roman"/>
              </a:rPr>
              <a:t>real</a:t>
            </a:r>
            <a:r>
              <a:rPr sz="1950" spc="-12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time</a:t>
            </a:r>
            <a:r>
              <a:rPr sz="1950" spc="-10" dirty="0"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825"/>
              </a:spcBef>
            </a:pPr>
            <a:r>
              <a:rPr sz="2650" b="1" spc="-10" dirty="0">
                <a:latin typeface="Times New Roman"/>
                <a:cs typeface="Times New Roman"/>
              </a:rPr>
              <a:t>Flowchart:</a:t>
            </a:r>
            <a:endParaRPr sz="2650">
              <a:latin typeface="Times New Roman"/>
              <a:cs typeface="Times New Roman"/>
            </a:endParaRPr>
          </a:p>
          <a:p>
            <a:pPr marR="648970" algn="ctr">
              <a:lnSpc>
                <a:spcPct val="100000"/>
              </a:lnSpc>
              <a:spcBef>
                <a:spcPts val="120"/>
              </a:spcBef>
            </a:pPr>
            <a:r>
              <a:rPr sz="1950" dirty="0">
                <a:latin typeface="Times New Roman"/>
                <a:cs typeface="Times New Roman"/>
              </a:rPr>
              <a:t>User</a:t>
            </a:r>
            <a:r>
              <a:rPr sz="1950" spc="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(Donor</a:t>
            </a:r>
            <a:r>
              <a:rPr sz="1950" spc="-1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App)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→</a:t>
            </a:r>
            <a:r>
              <a:rPr sz="1950" spc="4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Uploads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food</a:t>
            </a:r>
            <a:endParaRPr sz="1950">
              <a:latin typeface="Times New Roman"/>
              <a:cs typeface="Times New Roman"/>
            </a:endParaRPr>
          </a:p>
          <a:p>
            <a:pPr marR="1575435" algn="ctr">
              <a:lnSpc>
                <a:spcPct val="100000"/>
              </a:lnSpc>
            </a:pPr>
            <a:r>
              <a:rPr sz="1950" spc="-50" dirty="0">
                <a:latin typeface="Times New Roman"/>
                <a:cs typeface="Times New Roman"/>
              </a:rPr>
              <a:t>↓</a:t>
            </a:r>
            <a:endParaRPr sz="1950">
              <a:latin typeface="Times New Roman"/>
              <a:cs typeface="Times New Roman"/>
            </a:endParaRPr>
          </a:p>
          <a:p>
            <a:pPr marR="1531620" algn="ctr">
              <a:lnSpc>
                <a:spcPts val="2240"/>
              </a:lnSpc>
            </a:pPr>
            <a:r>
              <a:rPr sz="1950" spc="-10" dirty="0">
                <a:latin typeface="Times New Roman"/>
                <a:cs typeface="Times New Roman"/>
              </a:rPr>
              <a:t>Backend</a:t>
            </a:r>
            <a:r>
              <a:rPr sz="1950" spc="-114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(Database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+</a:t>
            </a:r>
            <a:r>
              <a:rPr sz="1950" spc="-95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API)</a:t>
            </a:r>
            <a:endParaRPr sz="1950">
              <a:latin typeface="Times New Roman"/>
              <a:cs typeface="Times New Roman"/>
            </a:endParaRPr>
          </a:p>
          <a:p>
            <a:pPr marR="1480820" algn="ctr">
              <a:lnSpc>
                <a:spcPts val="2240"/>
              </a:lnSpc>
            </a:pPr>
            <a:r>
              <a:rPr sz="1950" spc="-50" dirty="0">
                <a:latin typeface="Times New Roman"/>
                <a:cs typeface="Times New Roman"/>
              </a:rPr>
              <a:t>↓</a:t>
            </a:r>
            <a:endParaRPr sz="1950">
              <a:latin typeface="Times New Roman"/>
              <a:cs typeface="Times New Roman"/>
            </a:endParaRPr>
          </a:p>
          <a:p>
            <a:pPr marR="927735" algn="ctr">
              <a:lnSpc>
                <a:spcPct val="100000"/>
              </a:lnSpc>
              <a:spcBef>
                <a:spcPts val="5"/>
              </a:spcBef>
            </a:pPr>
            <a:r>
              <a:rPr sz="1950" spc="-40" dirty="0">
                <a:latin typeface="Times New Roman"/>
                <a:cs typeface="Times New Roman"/>
              </a:rPr>
              <a:t>NGO/Volunteer</a:t>
            </a:r>
            <a:r>
              <a:rPr sz="1950" spc="-13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App</a:t>
            </a:r>
            <a:r>
              <a:rPr sz="1950" spc="1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→</a:t>
            </a:r>
            <a:r>
              <a:rPr sz="1950" spc="-4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Accepts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3873" y="5691689"/>
            <a:ext cx="14217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83970" algn="l"/>
              </a:tabLst>
            </a:pPr>
            <a:r>
              <a:rPr sz="1950" spc="-10" dirty="0">
                <a:latin typeface="Times New Roman"/>
                <a:cs typeface="Times New Roman"/>
              </a:rPr>
              <a:t>pickup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spc="-50" dirty="0">
                <a:latin typeface="Times New Roman"/>
                <a:cs typeface="Times New Roman"/>
              </a:rPr>
              <a:t>↓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3873" y="5984254"/>
            <a:ext cx="3402329" cy="1544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906780" algn="ctr">
              <a:lnSpc>
                <a:spcPts val="2315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Maps</a:t>
            </a:r>
            <a:r>
              <a:rPr sz="1950" spc="-10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API</a:t>
            </a:r>
            <a:r>
              <a:rPr sz="1950" spc="-1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→</a:t>
            </a:r>
            <a:r>
              <a:rPr sz="1950" spc="-2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Navigation</a:t>
            </a:r>
            <a:endParaRPr sz="1950">
              <a:latin typeface="Times New Roman"/>
              <a:cs typeface="Times New Roman"/>
            </a:endParaRPr>
          </a:p>
          <a:p>
            <a:pPr marR="729615" algn="ctr">
              <a:lnSpc>
                <a:spcPts val="2315"/>
              </a:lnSpc>
            </a:pPr>
            <a:r>
              <a:rPr sz="1950" spc="-50" dirty="0">
                <a:latin typeface="Times New Roman"/>
                <a:cs typeface="Times New Roman"/>
              </a:rPr>
              <a:t>↓</a:t>
            </a:r>
            <a:endParaRPr sz="1950">
              <a:latin typeface="Times New Roman"/>
              <a:cs typeface="Times New Roman"/>
            </a:endParaRPr>
          </a:p>
          <a:p>
            <a:pPr marR="1043305" algn="ctr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latin typeface="Times New Roman"/>
                <a:cs typeface="Times New Roman"/>
              </a:rPr>
              <a:t>Distribution</a:t>
            </a:r>
            <a:r>
              <a:rPr sz="1950" spc="-10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Completed</a:t>
            </a:r>
            <a:endParaRPr sz="1950">
              <a:latin typeface="Times New Roman"/>
              <a:cs typeface="Times New Roman"/>
            </a:endParaRPr>
          </a:p>
          <a:p>
            <a:pPr marR="729615" algn="ctr">
              <a:lnSpc>
                <a:spcPct val="100000"/>
              </a:lnSpc>
              <a:spcBef>
                <a:spcPts val="195"/>
              </a:spcBef>
            </a:pPr>
            <a:r>
              <a:rPr sz="1950" spc="-50" dirty="0">
                <a:latin typeface="Times New Roman"/>
                <a:cs typeface="Times New Roman"/>
              </a:rPr>
              <a:t>↓</a:t>
            </a:r>
            <a:endParaRPr sz="1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950" spc="-10" dirty="0">
                <a:latin typeface="Times New Roman"/>
                <a:cs typeface="Times New Roman"/>
              </a:rPr>
              <a:t>Dashboard</a:t>
            </a:r>
            <a:r>
              <a:rPr sz="1950" spc="-8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(Admin</a:t>
            </a:r>
            <a:r>
              <a:rPr sz="1950" spc="4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Transparency)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39073" y="4772606"/>
            <a:ext cx="189674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dirty="0">
                <a:latin typeface="Times New Roman"/>
                <a:cs typeface="Times New Roman"/>
              </a:rPr>
              <a:t>Key</a:t>
            </a:r>
            <a:r>
              <a:rPr sz="2650" b="1" spc="-65" dirty="0">
                <a:latin typeface="Times New Roman"/>
                <a:cs typeface="Times New Roman"/>
              </a:rPr>
              <a:t> </a:t>
            </a:r>
            <a:r>
              <a:rPr sz="2650" b="1" spc="-10" dirty="0">
                <a:latin typeface="Times New Roman"/>
                <a:cs typeface="Times New Roman"/>
              </a:rPr>
              <a:t>features</a:t>
            </a:r>
            <a:r>
              <a:rPr sz="1950" spc="-10" dirty="0">
                <a:latin typeface="Calibri"/>
                <a:cs typeface="Calibri"/>
              </a:rPr>
              <a:t>: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39079" y="5193288"/>
            <a:ext cx="2726690" cy="1812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26390" algn="l"/>
              </a:tabLst>
            </a:pPr>
            <a:r>
              <a:rPr sz="1950" dirty="0">
                <a:latin typeface="Times New Roman"/>
                <a:cs typeface="Times New Roman"/>
              </a:rPr>
              <a:t>Reduced</a:t>
            </a:r>
            <a:r>
              <a:rPr sz="1950" spc="-9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food</a:t>
            </a:r>
            <a:r>
              <a:rPr sz="1950" spc="-10" dirty="0">
                <a:latin typeface="Times New Roman"/>
                <a:cs typeface="Times New Roman"/>
              </a:rPr>
              <a:t> wastage</a:t>
            </a:r>
            <a:endParaRPr sz="1950">
              <a:latin typeface="Times New Roman"/>
              <a:cs typeface="Times New Roman"/>
            </a:endParaRPr>
          </a:p>
          <a:p>
            <a:pPr marL="326390" indent="-313690">
              <a:lnSpc>
                <a:spcPct val="100000"/>
              </a:lnSpc>
              <a:buFont typeface="Arial MT"/>
              <a:buChar char="•"/>
              <a:tabLst>
                <a:tab pos="326390" algn="l"/>
              </a:tabLst>
            </a:pPr>
            <a:r>
              <a:rPr sz="1950" dirty="0">
                <a:latin typeface="Times New Roman"/>
                <a:cs typeface="Times New Roman"/>
              </a:rPr>
              <a:t>More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people</a:t>
            </a:r>
            <a:r>
              <a:rPr sz="1950" spc="-11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get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meals</a:t>
            </a:r>
            <a:endParaRPr sz="1950">
              <a:latin typeface="Times New Roman"/>
              <a:cs typeface="Times New Roman"/>
            </a:endParaRPr>
          </a:p>
          <a:p>
            <a:pPr marL="326390" indent="-313690">
              <a:lnSpc>
                <a:spcPts val="2320"/>
              </a:lnSpc>
              <a:buFont typeface="Arial MT"/>
              <a:buChar char="•"/>
              <a:tabLst>
                <a:tab pos="326390" algn="l"/>
              </a:tabLst>
            </a:pPr>
            <a:r>
              <a:rPr sz="1950" dirty="0">
                <a:latin typeface="Times New Roman"/>
                <a:cs typeface="Times New Roman"/>
              </a:rPr>
              <a:t>Faster</a:t>
            </a:r>
            <a:r>
              <a:rPr sz="1950" spc="-3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food</a:t>
            </a:r>
            <a:r>
              <a:rPr sz="1950" spc="-6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delivery</a:t>
            </a:r>
            <a:endParaRPr sz="1950">
              <a:latin typeface="Times New Roman"/>
              <a:cs typeface="Times New Roman"/>
            </a:endParaRPr>
          </a:p>
          <a:p>
            <a:pPr marL="326390" indent="-313690">
              <a:lnSpc>
                <a:spcPts val="2300"/>
              </a:lnSpc>
              <a:buFont typeface="Arial MT"/>
              <a:buChar char="•"/>
              <a:tabLst>
                <a:tab pos="326390" algn="l"/>
              </a:tabLst>
            </a:pPr>
            <a:r>
              <a:rPr sz="1950" spc="-10" dirty="0">
                <a:latin typeface="Times New Roman"/>
                <a:cs typeface="Times New Roman"/>
              </a:rPr>
              <a:t>Increased</a:t>
            </a:r>
            <a:r>
              <a:rPr sz="1950" spc="-4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transparency</a:t>
            </a:r>
            <a:endParaRPr sz="1950">
              <a:latin typeface="Times New Roman"/>
              <a:cs typeface="Times New Roman"/>
            </a:endParaRPr>
          </a:p>
          <a:p>
            <a:pPr marL="326390" indent="-313690">
              <a:lnSpc>
                <a:spcPts val="2315"/>
              </a:lnSpc>
              <a:buFont typeface="Arial MT"/>
              <a:buChar char="•"/>
              <a:tabLst>
                <a:tab pos="326390" algn="l"/>
              </a:tabLst>
            </a:pPr>
            <a:r>
              <a:rPr sz="1950" dirty="0">
                <a:latin typeface="Times New Roman"/>
                <a:cs typeface="Times New Roman"/>
              </a:rPr>
              <a:t>Trust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between</a:t>
            </a:r>
            <a:r>
              <a:rPr sz="1950" spc="-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donors</a:t>
            </a:r>
            <a:r>
              <a:rPr sz="1950" spc="-90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Times New Roman"/>
                <a:cs typeface="Times New Roman"/>
              </a:rPr>
              <a:t>&amp;</a:t>
            </a:r>
            <a:endParaRPr sz="1950">
              <a:latin typeface="Times New Roman"/>
              <a:cs typeface="Times New Roman"/>
            </a:endParaRPr>
          </a:p>
          <a:p>
            <a:pPr marL="326390">
              <a:lnSpc>
                <a:spcPct val="100000"/>
              </a:lnSpc>
              <a:spcBef>
                <a:spcPts val="105"/>
              </a:spcBef>
            </a:pPr>
            <a:r>
              <a:rPr sz="1950" spc="-20" dirty="0">
                <a:latin typeface="Times New Roman"/>
                <a:cs typeface="Times New Roman"/>
              </a:rPr>
              <a:t>NGOs</a:t>
            </a:r>
            <a:endParaRPr sz="195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1652016"/>
            <a:ext cx="3855719" cy="2901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58B2-D922-3158-2C41-570996BD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8600"/>
            <a:ext cx="9372600" cy="1752600"/>
          </a:xfrm>
        </p:spPr>
        <p:txBody>
          <a:bodyPr>
            <a:normAutofit/>
          </a:bodyPr>
          <a:lstStyle/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&amp; System    Flow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D43BC-2BD1-13F6-9754-2FD8DE01E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914401"/>
            <a:ext cx="5029200" cy="2286000"/>
          </a:xfrm>
        </p:spPr>
        <p:txBody>
          <a:bodyPr>
            <a:normAutofit fontScale="70000" lnSpcReduction="20000"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Technologies Used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(Flask Framework)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/ SQLite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 APIs (Flask routes)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(optional):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/ AWS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Services: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Maps API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7CB0E-95FC-7C4B-9ADC-BFEA9D05315F}"/>
              </a:ext>
            </a:extLst>
          </p:cNvPr>
          <p:cNvSpPr txBox="1"/>
          <p:nvPr/>
        </p:nvSpPr>
        <p:spPr>
          <a:xfrm>
            <a:off x="1066800" y="2362200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3F13FE-32AF-91AC-FE56-E674C3DF1157}"/>
              </a:ext>
            </a:extLst>
          </p:cNvPr>
          <p:cNvSpPr txBox="1"/>
          <p:nvPr/>
        </p:nvSpPr>
        <p:spPr>
          <a:xfrm>
            <a:off x="2209800" y="3581401"/>
            <a:ext cx="61722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[Start]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[User Enters Details]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[Frontend Sends Data]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[Flask Backend Processes]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[Store in Database]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[Match Donor &amp; Receiver]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[Send Notification]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[Food Pickup &amp; Delivery]</a:t>
            </a:r>
          </a:p>
          <a:p>
            <a:r>
              <a:rPr lang="en-IN" dirty="0"/>
              <a:t>   ↓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62A95-2F44-A47B-16D0-652D5B1F5C60}"/>
              </a:ext>
            </a:extLst>
          </p:cNvPr>
          <p:cNvSpPr txBox="1"/>
          <p:nvPr/>
        </p:nvSpPr>
        <p:spPr>
          <a:xfrm>
            <a:off x="1981200" y="3112532"/>
            <a:ext cx="609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as follows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9" name="AutoShape 2" descr="Technology stack and system flow">
            <a:extLst>
              <a:ext uri="{FF2B5EF4-FFF2-40B4-BE49-F238E27FC236}">
                <a16:creationId xmlns:a16="http://schemas.microsoft.com/office/drawing/2014/main" id="{8AE95B12-56C8-4489-0005-7040830989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0D40-C31D-EDFC-8F78-B7E65AB5EB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307" y="3617744"/>
            <a:ext cx="3424893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7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968" y="633894"/>
            <a:ext cx="8529513" cy="1267132"/>
          </a:xfrm>
          <a:prstGeom prst="rect">
            <a:avLst/>
          </a:prstGeom>
        </p:spPr>
        <p:txBody>
          <a:bodyPr vert="horz" wrap="square" lIns="0" tIns="584317" rIns="0" bIns="0" rtlCol="0">
            <a:spAutoFit/>
          </a:bodyPr>
          <a:lstStyle/>
          <a:p>
            <a:pPr marL="8153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Impacts</a:t>
            </a:r>
            <a:r>
              <a:rPr spc="-204" dirty="0"/>
              <a:t> </a:t>
            </a:r>
            <a:r>
              <a:rPr dirty="0"/>
              <a:t>and</a:t>
            </a:r>
            <a:r>
              <a:rPr spc="-12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98610" y="2151425"/>
            <a:ext cx="22269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26390" algn="l"/>
                <a:tab pos="169291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Reduces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20" dirty="0">
                <a:latin typeface="Times New Roman"/>
                <a:cs typeface="Times New Roman"/>
              </a:rPr>
              <a:t>food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80014" y="2151425"/>
            <a:ext cx="1620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3096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wastage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by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98610" y="2486692"/>
            <a:ext cx="4199890" cy="3712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95"/>
              </a:spcBef>
            </a:pPr>
            <a:r>
              <a:rPr sz="2200" spc="-35" dirty="0">
                <a:latin typeface="Times New Roman"/>
                <a:cs typeface="Times New Roman"/>
              </a:rPr>
              <a:t>utilizing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surplus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food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effectively</a:t>
            </a:r>
            <a:endParaRPr sz="2200">
              <a:latin typeface="Times New Roman"/>
              <a:cs typeface="Times New Roman"/>
            </a:endParaRPr>
          </a:p>
          <a:p>
            <a:pPr marL="326390" marR="5080" indent="-314325">
              <a:lnSpc>
                <a:spcPct val="100000"/>
              </a:lnSpc>
              <a:buFont typeface="Arial MT"/>
              <a:buChar char="•"/>
              <a:tabLst>
                <a:tab pos="326390" algn="l"/>
                <a:tab pos="1759585" algn="l"/>
                <a:tab pos="2897505" algn="l"/>
                <a:tab pos="397446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Provides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timely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meals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45" dirty="0">
                <a:latin typeface="Times New Roman"/>
                <a:cs typeface="Times New Roman"/>
              </a:rPr>
              <a:t>to </a:t>
            </a:r>
            <a:r>
              <a:rPr sz="2200" spc="-25" dirty="0">
                <a:latin typeface="Times New Roman"/>
                <a:cs typeface="Times New Roman"/>
              </a:rPr>
              <a:t>homeless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and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needy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people</a:t>
            </a:r>
            <a:endParaRPr sz="2200">
              <a:latin typeface="Times New Roman"/>
              <a:cs typeface="Times New Roman"/>
            </a:endParaRPr>
          </a:p>
          <a:p>
            <a:pPr marL="326390" marR="78740" indent="-314325">
              <a:lnSpc>
                <a:spcPct val="100000"/>
              </a:lnSpc>
              <a:buFont typeface="Arial MT"/>
              <a:buChar char="•"/>
              <a:tabLst>
                <a:tab pos="326390" algn="l"/>
              </a:tabLst>
            </a:pPr>
            <a:r>
              <a:rPr sz="2200" b="1" dirty="0">
                <a:latin typeface="Times New Roman"/>
                <a:cs typeface="Times New Roman"/>
              </a:rPr>
              <a:t>Faster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food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distribution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through </a:t>
            </a:r>
            <a:r>
              <a:rPr sz="2200" spc="-80" dirty="0">
                <a:latin typeface="Times New Roman"/>
                <a:cs typeface="Times New Roman"/>
              </a:rPr>
              <a:t>real-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alerts</a:t>
            </a:r>
            <a:endParaRPr sz="2200">
              <a:latin typeface="Times New Roman"/>
              <a:cs typeface="Times New Roman"/>
            </a:endParaRPr>
          </a:p>
          <a:p>
            <a:pPr marL="326390" marR="19685" indent="-314325">
              <a:lnSpc>
                <a:spcPct val="100000"/>
              </a:lnSpc>
              <a:buFont typeface="Arial MT"/>
              <a:buChar char="•"/>
              <a:tabLst>
                <a:tab pos="326390" algn="l"/>
                <a:tab pos="1402715" algn="l"/>
                <a:tab pos="326009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Better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coordination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spc="-35" dirty="0">
                <a:latin typeface="Times New Roman"/>
                <a:cs typeface="Times New Roman"/>
              </a:rPr>
              <a:t>between </a:t>
            </a:r>
            <a:r>
              <a:rPr sz="2200" spc="-25" dirty="0">
                <a:latin typeface="Times New Roman"/>
                <a:cs typeface="Times New Roman"/>
              </a:rPr>
              <a:t>donors,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NGOs,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and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volunteers</a:t>
            </a:r>
            <a:endParaRPr sz="2200">
              <a:latin typeface="Times New Roman"/>
              <a:cs typeface="Times New Roman"/>
            </a:endParaRPr>
          </a:p>
          <a:p>
            <a:pPr marL="326390" indent="-313690">
              <a:lnSpc>
                <a:spcPct val="100000"/>
              </a:lnSpc>
              <a:buFont typeface="Arial MT"/>
              <a:buChar char="•"/>
              <a:tabLst>
                <a:tab pos="326390" algn="l"/>
              </a:tabLst>
            </a:pPr>
            <a:r>
              <a:rPr sz="2200" b="1" dirty="0">
                <a:latin typeface="Times New Roman"/>
                <a:cs typeface="Times New Roman"/>
              </a:rPr>
              <a:t>Increases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transparency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&amp;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trust</a:t>
            </a:r>
            <a:endParaRPr sz="2200">
              <a:latin typeface="Times New Roman"/>
              <a:cs typeface="Times New Roman"/>
            </a:endParaRPr>
          </a:p>
          <a:p>
            <a:pPr marL="32639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tracking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proof</a:t>
            </a:r>
            <a:endParaRPr sz="2200">
              <a:latin typeface="Times New Roman"/>
              <a:cs typeface="Times New Roman"/>
            </a:endParaRPr>
          </a:p>
          <a:p>
            <a:pPr marL="326390" indent="-313690">
              <a:lnSpc>
                <a:spcPct val="100000"/>
              </a:lnSpc>
              <a:buFont typeface="Arial MT"/>
              <a:buChar char="•"/>
              <a:tabLst>
                <a:tab pos="326390" algn="l"/>
              </a:tabLst>
            </a:pPr>
            <a:r>
              <a:rPr sz="2200" b="1" dirty="0">
                <a:latin typeface="Times New Roman"/>
                <a:cs typeface="Times New Roman"/>
              </a:rPr>
              <a:t>Supports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Zero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Hunger</a:t>
            </a:r>
            <a:r>
              <a:rPr sz="2200" b="1" spc="15" dirty="0">
                <a:latin typeface="Times New Roman"/>
                <a:cs typeface="Times New Roman"/>
              </a:rPr>
              <a:t> </a:t>
            </a:r>
            <a:r>
              <a:rPr sz="2200" b="1" spc="-85" dirty="0">
                <a:latin typeface="Times New Roman"/>
                <a:cs typeface="Times New Roman"/>
              </a:rPr>
              <a:t>(SDG-</a:t>
            </a:r>
            <a:r>
              <a:rPr sz="2200" b="1" spc="-25" dirty="0">
                <a:latin typeface="Times New Roman"/>
                <a:cs typeface="Times New Roman"/>
              </a:rPr>
              <a:t>2)</a:t>
            </a:r>
            <a:endParaRPr sz="2200">
              <a:latin typeface="Times New Roman"/>
              <a:cs typeface="Times New Roman"/>
            </a:endParaRPr>
          </a:p>
          <a:p>
            <a:pPr marL="326390">
              <a:lnSpc>
                <a:spcPct val="100000"/>
              </a:lnSpc>
            </a:pPr>
            <a:r>
              <a:rPr sz="2200" spc="-20" dirty="0">
                <a:latin typeface="Times New Roman"/>
                <a:cs typeface="Times New Roman"/>
              </a:rPr>
              <a:t>goal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0864" y="276831"/>
            <a:ext cx="8064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50" dirty="0">
                <a:latin typeface="Arial MT"/>
                <a:cs typeface="Arial MT"/>
              </a:rPr>
              <a:t>l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191" y="2186940"/>
            <a:ext cx="5029200" cy="36880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808665"/>
            <a:ext cx="3571724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Future</a:t>
            </a:r>
            <a:r>
              <a:rPr spc="-160" dirty="0"/>
              <a:t> </a:t>
            </a:r>
            <a:r>
              <a:rPr spc="-10" dirty="0"/>
              <a:t>Scope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4316" y="1622589"/>
            <a:ext cx="4651375" cy="3420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90525" marR="805180" indent="-378460">
              <a:lnSpc>
                <a:spcPct val="102000"/>
              </a:lnSpc>
              <a:spcBef>
                <a:spcPts val="55"/>
              </a:spcBef>
              <a:buFont typeface="Arial MT"/>
              <a:buChar char="•"/>
              <a:tabLst>
                <a:tab pos="390525" algn="l"/>
              </a:tabLst>
            </a:pPr>
            <a:r>
              <a:rPr sz="2000" b="1" dirty="0">
                <a:latin typeface="Times New Roman"/>
                <a:cs typeface="Times New Roman"/>
              </a:rPr>
              <a:t>Improved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coordination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between </a:t>
            </a:r>
            <a:r>
              <a:rPr sz="2000" b="1" dirty="0">
                <a:latin typeface="Times New Roman"/>
                <a:cs typeface="Times New Roman"/>
              </a:rPr>
              <a:t>food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donors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receivers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ensure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surplus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food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reaches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hungry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time.</a:t>
            </a:r>
            <a:endParaRPr sz="2000">
              <a:latin typeface="Times New Roman"/>
              <a:cs typeface="Times New Roman"/>
            </a:endParaRPr>
          </a:p>
          <a:p>
            <a:pPr marL="390525" marR="339090" indent="-378460">
              <a:lnSpc>
                <a:spcPct val="101000"/>
              </a:lnSpc>
              <a:spcBef>
                <a:spcPts val="10"/>
              </a:spcBef>
              <a:buFont typeface="Arial MT"/>
              <a:buChar char="•"/>
              <a:tabLst>
                <a:tab pos="390525" algn="l"/>
              </a:tabLst>
            </a:pPr>
            <a:r>
              <a:rPr sz="2000" b="1" dirty="0">
                <a:latin typeface="Times New Roman"/>
                <a:cs typeface="Times New Roman"/>
              </a:rPr>
              <a:t>Smart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matching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systems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distribute </a:t>
            </a:r>
            <a:r>
              <a:rPr sz="2000" dirty="0">
                <a:latin typeface="Times New Roman"/>
                <a:cs typeface="Times New Roman"/>
              </a:rPr>
              <a:t>food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location,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urgency,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quantity,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hunger efficiently.</a:t>
            </a:r>
            <a:endParaRPr sz="2000">
              <a:latin typeface="Times New Roman"/>
              <a:cs typeface="Times New Roman"/>
            </a:endParaRPr>
          </a:p>
          <a:p>
            <a:pPr marL="390525" marR="5080" indent="-378460">
              <a:lnSpc>
                <a:spcPct val="101000"/>
              </a:lnSpc>
              <a:buFont typeface="Arial MT"/>
              <a:buChar char="•"/>
              <a:tabLst>
                <a:tab pos="390525" algn="l"/>
              </a:tabLst>
            </a:pPr>
            <a:r>
              <a:rPr sz="2000" b="1" dirty="0">
                <a:latin typeface="Times New Roman"/>
                <a:cs typeface="Times New Roman"/>
              </a:rPr>
              <a:t>Expansion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 more</a:t>
            </a:r>
            <a:r>
              <a:rPr sz="2000" b="1" spc="-10" dirty="0">
                <a:latin typeface="Times New Roman"/>
                <a:cs typeface="Times New Roman"/>
              </a:rPr>
              <a:t> communities </a:t>
            </a:r>
            <a:r>
              <a:rPr sz="2000" dirty="0">
                <a:latin typeface="Times New Roman"/>
                <a:cs typeface="Times New Roman"/>
              </a:rPr>
              <a:t>including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rural, urban,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disaster- affected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hunger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reduction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316" y="5000364"/>
            <a:ext cx="4474210" cy="22098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395"/>
              </a:spcBef>
            </a:pPr>
            <a:r>
              <a:rPr sz="2000" spc="-10" dirty="0">
                <a:latin typeface="Times New Roman"/>
                <a:cs typeface="Times New Roman"/>
              </a:rPr>
              <a:t>efforts.</a:t>
            </a:r>
            <a:endParaRPr sz="2000">
              <a:latin typeface="Times New Roman"/>
              <a:cs typeface="Times New Roman"/>
            </a:endParaRPr>
          </a:p>
          <a:p>
            <a:pPr marL="390525" marR="734060" indent="-37846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90525" algn="l"/>
              </a:tabLst>
            </a:pPr>
            <a:r>
              <a:rPr sz="2000" b="1" dirty="0">
                <a:latin typeface="Times New Roman"/>
                <a:cs typeface="Times New Roman"/>
              </a:rPr>
              <a:t>Use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 data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analytics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identify </a:t>
            </a:r>
            <a:r>
              <a:rPr sz="2000" dirty="0">
                <a:latin typeface="Times New Roman"/>
                <a:cs typeface="Times New Roman"/>
              </a:rPr>
              <a:t>high-need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areas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better </a:t>
            </a:r>
            <a:r>
              <a:rPr sz="2000" dirty="0">
                <a:latin typeface="Times New Roman"/>
                <a:cs typeface="Times New Roman"/>
              </a:rPr>
              <a:t>food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distribution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strategies.</a:t>
            </a:r>
            <a:endParaRPr sz="2000">
              <a:latin typeface="Times New Roman"/>
              <a:cs typeface="Times New Roman"/>
            </a:endParaRPr>
          </a:p>
          <a:p>
            <a:pPr marL="390525" marR="5080" indent="-378460">
              <a:lnSpc>
                <a:spcPct val="95700"/>
              </a:lnSpc>
              <a:spcBef>
                <a:spcPts val="105"/>
              </a:spcBef>
              <a:buFont typeface="Arial MT"/>
              <a:buChar char="•"/>
              <a:tabLst>
                <a:tab pos="390525" algn="l"/>
              </a:tabLst>
            </a:pPr>
            <a:r>
              <a:rPr sz="2000" b="1" dirty="0">
                <a:latin typeface="Times New Roman"/>
                <a:cs typeface="Times New Roman"/>
              </a:rPr>
              <a:t>Mobile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web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platform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upgrades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involve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volunteers,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NGOs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&amp; </a:t>
            </a:r>
            <a:r>
              <a:rPr sz="2000" spc="-10" dirty="0">
                <a:latin typeface="Times New Roman"/>
                <a:cs typeface="Times New Roman"/>
              </a:rPr>
              <a:t>institutions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0660" y="1821180"/>
            <a:ext cx="4472939" cy="287121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196308" y="5095693"/>
            <a:ext cx="4378960" cy="186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0525" marR="5080" indent="-378460">
              <a:lnSpc>
                <a:spcPct val="110800"/>
              </a:lnSpc>
              <a:spcBef>
                <a:spcPts val="105"/>
              </a:spcBef>
              <a:buFont typeface="Arial MT"/>
              <a:buChar char="•"/>
              <a:tabLst>
                <a:tab pos="390525" algn="l"/>
              </a:tabLst>
            </a:pPr>
            <a:r>
              <a:rPr sz="1800" b="1" spc="-35" dirty="0">
                <a:latin typeface="Times New Roman"/>
                <a:cs typeface="Times New Roman"/>
              </a:rPr>
              <a:t>Real-</a:t>
            </a:r>
            <a:r>
              <a:rPr sz="1800" b="1" dirty="0">
                <a:latin typeface="Times New Roman"/>
                <a:cs typeface="Times New Roman"/>
              </a:rPr>
              <a:t>time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tracking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alerts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</a:t>
            </a:r>
            <a:r>
              <a:rPr sz="1800" spc="5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minimize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food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spoilage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maximize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food </a:t>
            </a:r>
            <a:r>
              <a:rPr sz="1800" spc="-10" dirty="0">
                <a:latin typeface="Times New Roman"/>
                <a:cs typeface="Times New Roman"/>
              </a:rPr>
              <a:t>utilization.</a:t>
            </a:r>
            <a:endParaRPr sz="1800">
              <a:latin typeface="Times New Roman"/>
              <a:cs typeface="Times New Roman"/>
            </a:endParaRPr>
          </a:p>
          <a:p>
            <a:pPr marL="390525" marR="22225" indent="-378460">
              <a:lnSpc>
                <a:spcPct val="106100"/>
              </a:lnSpc>
              <a:spcBef>
                <a:spcPts val="135"/>
              </a:spcBef>
              <a:buFont typeface="Arial MT"/>
              <a:buChar char="•"/>
              <a:tabLst>
                <a:tab pos="390525" algn="l"/>
              </a:tabLst>
            </a:pPr>
            <a:r>
              <a:rPr sz="1800" b="1" dirty="0">
                <a:latin typeface="Times New Roman"/>
                <a:cs typeface="Times New Roman"/>
              </a:rPr>
              <a:t>Support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emergency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situations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as </a:t>
            </a:r>
            <a:r>
              <a:rPr sz="1800" dirty="0">
                <a:latin typeface="Times New Roman"/>
                <a:cs typeface="Times New Roman"/>
              </a:rPr>
              <a:t>floods,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pandemics,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natural</a:t>
            </a:r>
            <a:endParaRPr sz="1800">
              <a:latin typeface="Times New Roman"/>
              <a:cs typeface="Times New Roman"/>
            </a:endParaRPr>
          </a:p>
          <a:p>
            <a:pPr marL="390525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Times New Roman"/>
                <a:cs typeface="Times New Roman"/>
              </a:rPr>
              <a:t>disasters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prevent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hunger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crises.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AEFD-7F9A-B2AB-E213-8E887A0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609600"/>
            <a:ext cx="6009367" cy="76200"/>
          </a:xfrm>
        </p:spPr>
        <p:txBody>
          <a:bodyPr>
            <a:normAutofit fontScale="90000"/>
          </a:bodyPr>
          <a:lstStyle/>
          <a:p>
            <a:r>
              <a:rPr lang="en-US" dirty="0"/>
              <a:t>Outcomes  of project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1326C-1F98-CB23-530F-74C45EE74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600199"/>
            <a:ext cx="6477000" cy="342900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Smart Food Distribution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donate and request food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connection between donors and needy people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food wastage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food collection and delivery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tracking and management of food distribution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efficient system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973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6C7AE-664F-F0EE-42D3-A2FC95E92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690880"/>
            <a:ext cx="8717281" cy="5024120"/>
          </a:xfrm>
        </p:spPr>
        <p:txBody>
          <a:bodyPr>
            <a:normAutofit/>
          </a:bodyPr>
          <a:lstStyle/>
          <a:p>
            <a:r>
              <a:rPr lang="en-US" sz="6000" dirty="0"/>
              <a:t>         </a:t>
            </a: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r>
              <a:rPr lang="en-US" sz="6000" dirty="0"/>
              <a:t>        </a:t>
            </a:r>
            <a:r>
              <a:rPr lang="en-US" sz="8000" dirty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29626975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70</TotalTime>
  <Words>597</Words>
  <Application>Microsoft Office PowerPoint</Application>
  <PresentationFormat>Custom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MT</vt:lpstr>
      <vt:lpstr>Calibri</vt:lpstr>
      <vt:lpstr>Times New Roman</vt:lpstr>
      <vt:lpstr>Trebuchet MS</vt:lpstr>
      <vt:lpstr>Wingdings</vt:lpstr>
      <vt:lpstr>Wingdings 3</vt:lpstr>
      <vt:lpstr>Facet</vt:lpstr>
      <vt:lpstr>  Smart food disturbution system                TEAM DETAILS</vt:lpstr>
      <vt:lpstr>Problem Statement</vt:lpstr>
      <vt:lpstr>Proposed Solution with Architecture and Key Features</vt:lpstr>
      <vt:lpstr> Technologies Used &amp; System    Flow </vt:lpstr>
      <vt:lpstr>Impacts and Benefits</vt:lpstr>
      <vt:lpstr>Future Scope</vt:lpstr>
      <vt:lpstr>Outcomes  of project </vt:lpstr>
      <vt:lpstr>  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V.Kavyasri_IT</dc:title>
  <dc:creator>Kavya Sri Vanaparthi</dc:creator>
  <cp:lastModifiedBy>Vanaparthi Kavya</cp:lastModifiedBy>
  <cp:revision>4</cp:revision>
  <dcterms:created xsi:type="dcterms:W3CDTF">2025-12-14T10:30:51Z</dcterms:created>
  <dcterms:modified xsi:type="dcterms:W3CDTF">2026-04-27T14:27:02Z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2025-12-14T00:00:00Z</vt:filetime>
  </property>
  <property fmtid="{D5CDD505-2E9C-101B-9397-08002B2CF9AE}" pid="3" name="LastSaved">
    <vt:filetime>2025-12-14T00:00:00Z</vt:filetime>
  </property>
  <property fmtid="{D5CDD505-2E9C-101B-9397-08002B2CF9AE}" pid="4" name="Producer">
    <vt:lpwstr>Microsoft: Print To PDF</vt:lpwstr>
  </property>
</Properties>
</file>